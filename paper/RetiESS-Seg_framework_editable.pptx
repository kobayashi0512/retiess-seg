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9a65f2d6f446e0" /><Relationship Type="http://schemas.openxmlformats.org/officeDocument/2006/relationships/extended-properties" Target="/docProps/app.xml" Id="R44d3fed559e24d40" /><Relationship Type="http://schemas.openxmlformats.org/officeDocument/2006/relationships/officeDocument" Target="/ppt/presentation.xml" Id="R9f75fe6cda9949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9208985d3a47ba"/>
  </p:sldMasterIdLst>
  <p:notesMasterIdLst>
    <p:notesMasterId xmlns:r="http://schemas.openxmlformats.org/officeDocument/2006/relationships" r:id="R71fdbcea984740d7"/>
  </p:notesMasterIdLst>
  <p:sldIdLst>
    <p:sldId xmlns:r="http://schemas.openxmlformats.org/officeDocument/2006/relationships" id="256" r:id="R057b7001771c405e"/>
  </p:sldIdLst>
  <p:sldSz cx="15240000" cy="8334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638517d1174d58" /><Relationship Type="http://schemas.openxmlformats.org/officeDocument/2006/relationships/slideMaster" Target="/ppt/slideMasters/slideMaster1.xml" Id="Ra69208985d3a47ba" /><Relationship Type="http://schemas.openxmlformats.org/officeDocument/2006/relationships/notesMaster" Target="/ppt/notesMasters/notesMaster1.xml" Id="R71fdbcea984740d7" /><Relationship Type="http://schemas.openxmlformats.org/officeDocument/2006/relationships/presProps" Target="/ppt/presProps.xml" Id="R1858a48a3b7940b7" /><Relationship Type="http://schemas.openxmlformats.org/officeDocument/2006/relationships/tableStyles" Target="/ppt/tableStyles.xml" Id="R14dc56da7ec34bda" /><Relationship Type="http://schemas.openxmlformats.org/officeDocument/2006/relationships/slide" Target="/ppt/slides/slide1.xml" Id="R057b7001771c40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6b02f1f28344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7c897391f14ff5" /><Relationship Type="http://schemas.openxmlformats.org/officeDocument/2006/relationships/notesMaster" Target="/ppt/notesMasters/notesMaster1.xml" Id="R27ff46fd3df34b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/Users/tongyue/Documents/ppf/papers/retiess_experiment/data/tian_octrima/extracted/FiletoShareforPONE/Subject1.mat (volumedata; Observer1; Observer2)</a:t>
            </a:r>
          </a:p>
          <a:p xmlns:a="http://schemas.openxmlformats.org/drawingml/2006/main">
            <a:r>
              <a:t>/Users/tongyue/Documents/ppf/papers/retiess_experiment/data/afio_glaucoma/extracted/Data on OCT and Fundus Images/P 15/1691587_20150916_103043_Color_R_001.jpg</a:t>
            </a:r>
          </a:p>
          <a:p xmlns:a="http://schemas.openxmlformats.org/drawingml/2006/main">
            <a:r>
              <a:t>/Users/tongyue/Documents/ppf/papers/retiess_experiment/data/afio_glaucoma/extracted/Data on OCT and Fundus Images/P 15/1691587_20150916_103043_B-scan_R_001.jpg</a:t>
            </a:r>
          </a:p>
          <a:p xmlns:a="http://schemas.openxmlformats.org/drawingml/2006/main">
            <a:r>
              <a:t>/Users/tongyue/Documents/ppf/papers/retiess_experiment/results/tian_nested_augmentation/summary.json</a:t>
            </a:r>
          </a:p>
          <a:p xmlns:a="http://schemas.openxmlformats.org/drawingml/2006/main">
            <a:r>
              <a:t>/Users/tongyue/Documents/ppf/papers/retiess_experiment/results/tian_loo_60e/summary.json</a:t>
            </a:r>
          </a:p>
          <a:p xmlns:a="http://schemas.openxmlformats.org/drawingml/2006/main">
            <a:r>
              <a:t>/Users/tongyue/Documents/ppf/papers/retiess_experiment/paper_assets/enhanced/raw_examples/README.txt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Scope: Tian is the primary complete-volume 3D segmentation study. AFIO is shown only as a separate 2D paired-data feasibility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f7a8f215745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a9ac0bcecd4e10" /><Relationship Type="http://schemas.openxmlformats.org/officeDocument/2006/relationships/slideLayout" Target="/ppt/slideLayouts/slideLayout1.xml" Id="Ra50cbd52479d4c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0cbd52479d4c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7527683cd417a" /><Relationship Type="http://schemas.openxmlformats.org/officeDocument/2006/relationships/image" Target="/ppt/media/image.png" Id="R7e97c328e99e453c" /><Relationship Type="http://schemas.openxmlformats.org/officeDocument/2006/relationships/image" Target="/ppt/media/image2.png" Id="R6ee6203558ee466f" /><Relationship Type="http://schemas.openxmlformats.org/officeDocument/2006/relationships/image" Target="/ppt/media/image3.png" Id="R76b18ccf71924560" /><Relationship Type="http://schemas.openxmlformats.org/officeDocument/2006/relationships/image" Target="/ppt/media/image4.png" Id="R80c5b6c2211945ba" /><Relationship Type="http://schemas.openxmlformats.org/officeDocument/2006/relationships/image" Target="/ppt/media/image.jpeg" Id="R92d8d54e9ca04c82" /><Relationship Type="http://schemas.openxmlformats.org/officeDocument/2006/relationships/image" Target="/ppt/media/image2.jpeg" Id="Rf3a3fe044bac466e" /><Relationship Type="http://schemas.openxmlformats.org/officeDocument/2006/relationships/image" Target="/ppt/media/image5.png" Id="Rf59a89079769420f" /><Relationship Type="http://schemas.openxmlformats.org/officeDocument/2006/relationships/image" Target="/ppt/media/image6.png" Id="R31f99ca822704048" /><Relationship Type="http://schemas.openxmlformats.org/officeDocument/2006/relationships/image" Target="/ppt/media/image7.png" Id="Rc6776c29dd2146ae" /><Relationship Type="http://schemas.openxmlformats.org/officeDocument/2006/relationships/notesSlide" Target="/ppt/notesSlides/notesSlide1.xml" Id="R0f8d73cde9ce45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5FC76C3-C578-4226-A2D8-F915EAF9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14525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4401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3C5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3C5B"/>
                </a:solidFill>
                <a:latin typeface="Arial"/>
                <a:ea typeface="Arial"/>
                <a:cs typeface="Arial"/>
              </a:rPr>
              <a:t>RetiESS-Seg: raw retinal data → boundary prediction → correlation-aware evidence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EFBCE-0523-4F05-9B6F-513EFE80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1190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D"/>
                </a:solidFill>
                <a:latin typeface="Arial"/>
                <a:ea typeface="Arial"/>
                <a:cs typeface="Arial"/>
              </a:rPr>
              <a:t>The images below are released dataset examples; the Tian 3D segmentation study remains the primary evidence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5FD3C-9743-4E3D-886A-C99CAD15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666750"/>
            <a:ext cx="20288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3C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3C5B"/>
                </a:solidFill>
                <a:latin typeface="Arial"/>
                <a:ea typeface="Arial"/>
                <a:cs typeface="Arial"/>
              </a:rPr>
              <a:t>RAW DATA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2ED25-FEE6-4E69-B6E3-9B1EFCC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57275"/>
            <a:ext cx="14516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3DB"/>
            </a:solidFill>
            <a:prstDash val="solid"/>
          </a:ln>
        </p:spPr>
      </p:sp>
      <p:sp>
        <p:nvSpPr>
          <p:cNvPr id="5" name="A-data">
            <a:extLst xmlns:a="http://schemas.openxmlformats.org/drawingml/2006/main">
              <a:ext uri="{FF2B5EF4-FFF2-40B4-BE49-F238E27FC236}">
                <a16:creationId xmlns:a16="http://schemas.microsoft.com/office/drawing/2014/main" id="{430CDABA-1039-48DE-910A-8E030A89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38250"/>
            <a:ext cx="4457700" cy="56197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3335">
            <a:solidFill>
              <a:srgbClr val="2E6F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B-model">
            <a:extLst xmlns:a="http://schemas.openxmlformats.org/drawingml/2006/main">
              <a:ext uri="{FF2B5EF4-FFF2-40B4-BE49-F238E27FC236}">
                <a16:creationId xmlns:a16="http://schemas.microsoft.com/office/drawing/2014/main" id="{D133C0CD-0B8C-4482-890D-D3E205F9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38250"/>
            <a:ext cx="3429000" cy="5619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BF0E3"/>
          </a:solidFill>
          <a:ln xmlns:a="http://schemas.openxmlformats.org/drawingml/2006/main" w="13335">
            <a:solidFill>
              <a:srgbClr val="C878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-ess">
            <a:extLst xmlns:a="http://schemas.openxmlformats.org/drawingml/2006/main">
              <a:ext uri="{FF2B5EF4-FFF2-40B4-BE49-F238E27FC236}">
                <a16:creationId xmlns:a16="http://schemas.microsoft.com/office/drawing/2014/main" id="{0B64FA3F-0CF6-49E9-BB33-1F6271EF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38250"/>
            <a:ext cx="2971800" cy="5619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9F5F2"/>
          </a:solidFill>
          <a:ln xmlns:a="http://schemas.openxmlformats.org/drawingml/2006/main" w="13335">
            <a:solidFill>
              <a:srgbClr val="1685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D-evaluation">
            <a:extLst xmlns:a="http://schemas.openxmlformats.org/drawingml/2006/main">
              <a:ext uri="{FF2B5EF4-FFF2-40B4-BE49-F238E27FC236}">
                <a16:creationId xmlns:a16="http://schemas.microsoft.com/office/drawing/2014/main" id="{AC4AF3F8-33BF-41E4-A291-E1B7D8B2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238250"/>
            <a:ext cx="2971800" cy="5619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EBF0"/>
          </a:solidFill>
          <a:ln xmlns:a="http://schemas.openxmlformats.org/drawingml/2006/main" w="13335">
            <a:solidFill>
              <a:srgbClr val="A9486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B789E-39BA-4267-B1DF-3B76E4F5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10000"/>
            <a:ext cx="171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6F9E"/>
          </a:solidFill>
          <a:ln xmlns:a="http://schemas.openxmlformats.org/drawingml/2006/main" w="6668">
            <a:solidFill>
              <a:srgbClr val="2E6F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715F2-EE33-4D91-902E-FB664EE2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810000"/>
            <a:ext cx="171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782C"/>
          </a:solidFill>
          <a:ln xmlns:a="http://schemas.openxmlformats.org/drawingml/2006/main" w="6668">
            <a:solidFill>
              <a:srgbClr val="C8782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FAB70-6A41-4367-95BF-36347803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3810000"/>
            <a:ext cx="171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578"/>
          </a:solidFill>
          <a:ln xmlns:a="http://schemas.openxmlformats.org/drawingml/2006/main" w="6668">
            <a:solidFill>
              <a:srgbClr val="1685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F493B-0352-427D-AD38-4078C4F2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30480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2E6F9E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9502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7B216C-1744-4037-B766-A3FA625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62075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3C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3C5B"/>
                </a:solidFill>
                <a:latin typeface="Arial"/>
                <a:ea typeface="Arial"/>
                <a:cs typeface="Arial"/>
              </a:rPr>
              <a:t>Released data and unit of inference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49FAD-930E-4F31-9618-04FF632C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PRIMARY · Tian 3D OCT segmentation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43629B-1872-4537-805F-157B944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24025"/>
            <a:ext cx="197167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9436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3C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3C5B"/>
                </a:solidFill>
                <a:latin typeface="Arial"/>
                <a:ea typeface="Arial"/>
                <a:cs typeface="Arial"/>
              </a:rPr>
              <a:t>10 complete volumes · 100 B-scans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4DD04-BC21-4908-AC0F-CF99EA9B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85975"/>
            <a:ext cx="120967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E6F9E"/>
            </a:solidFill>
            <a:prstDash val="solid"/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7c328e99e453c"/>
          <a:srcRect xmlns:a="http://schemas.openxmlformats.org/drawingml/2006/main" l="807" t="0" r="8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114550"/>
            <a:ext cx="1152525" cy="95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CBC70-E1DE-4383-BC6B-C9109BDC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152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B-scan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084D9-70C4-43D3-A9A1-05BB86EB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85975"/>
            <a:ext cx="120967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E6F9E"/>
            </a:solidFill>
            <a:prstDash val="solid"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6203558ee466f"/>
          <a:srcRect xmlns:a="http://schemas.openxmlformats.org/drawingml/2006/main" l="807" t="0" r="8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5475" y="2114550"/>
            <a:ext cx="1152525" cy="9525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CD08A-1CBF-42EA-9098-8E5CF55C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105150"/>
            <a:ext cx="1152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B-scan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BB47E-A047-4883-BB0D-24C3B021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85975"/>
            <a:ext cx="1209675" cy="100965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E6F9E"/>
            </a:solidFill>
            <a:prstDash val="solid"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18ccf71924560"/>
          <a:srcRect xmlns:a="http://schemas.openxmlformats.org/drawingml/2006/main" l="807" t="0" r="8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0" y="2114550"/>
            <a:ext cx="1152525" cy="9525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749BEB-4CA6-4B6A-8643-181DCE5E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152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B-scan 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299D5-04F0-4897-A8F6-2E9BA3D3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05175"/>
            <a:ext cx="3762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7D"/>
                </a:solidFill>
                <a:latin typeface="Arial"/>
                <a:ea typeface="Arial"/>
                <a:cs typeface="Arial"/>
              </a:rPr>
              <a:t>same volume · adjacent anatomy · correlated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C8A86C-9824-48EF-95BA-C1271F14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09975"/>
            <a:ext cx="3162300" cy="1295400"/>
          </a:xfrm>
          <a:prstGeom xmlns:a="http://schemas.openxmlformats.org/drawingml/2006/main" prst="roundRect">
            <a:avLst>
              <a:gd name="adj" fmla="val 5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E6F9E"/>
            </a:solidFill>
            <a:prstDash val="solid"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5b6c2211945ba"/>
          <a:srcRect xmlns:a="http://schemas.openxmlformats.org/drawingml/2006/main" l="0" t="25479" r="0" b="254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3638550"/>
            <a:ext cx="3105150" cy="12382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26452A-103E-47F0-BC5E-F41A3F51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9625"/>
            <a:ext cx="18859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F9E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3C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3C5B"/>
                </a:solidFill>
                <a:latin typeface="Arial"/>
                <a:ea typeface="Arial"/>
                <a:cs typeface="Arial"/>
              </a:rPr>
              <a:t>8 released layer boundaries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717772-69C3-41F9-ADC8-8CDDE330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403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6F9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73197C-3681-43CB-AC36-5BE65C3E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782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782C"/>
                </a:solidFill>
                <a:latin typeface="Arial"/>
                <a:ea typeface="Arial"/>
                <a:cs typeface="Arial"/>
              </a:rPr>
              <a:t>SECONDARY · AFIO paired 2D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587A9A-3CD9-4B81-85C6-8FBFF304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438775"/>
            <a:ext cx="1276350" cy="112395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8782C"/>
            </a:solidFill>
            <a:prstDash val="solid"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8d54e9ca04c82"/>
          <a:srcRect xmlns:a="http://schemas.openxmlformats.org/drawingml/2006/main" l="0" t="4033" r="0" b="40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546735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12330D-80D7-4E3A-A58F-FECBF8DE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38775"/>
            <a:ext cx="2409825" cy="1123950"/>
          </a:xfrm>
          <a:prstGeom xmlns:a="http://schemas.openxmlformats.org/drawingml/2006/main" prst="roundRect">
            <a:avLst>
              <a:gd name="adj" fmla="val 59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8782C"/>
            </a:solidFill>
            <a:prstDash val="solid"/>
          </a:ln>
        </p:spPr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3fe044bac466e"/>
          <a:srcRect xmlns:a="http://schemas.openxmlformats.org/drawingml/2006/main" l="0" t="2717" r="0" b="2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1675" y="5467350"/>
            <a:ext cx="2352675" cy="10668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FD85B3-7368-435A-8448-C0B680A4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fundus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AA995D-0BB0-480C-9F02-905A7296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6553200"/>
            <a:ext cx="2314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OCT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1974D3-E1B5-4527-B094-C09C11DB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67475"/>
            <a:ext cx="33337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782C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8782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8782C"/>
                </a:solidFill>
                <a:latin typeface="Arial"/>
                <a:ea typeface="Arial"/>
                <a:cs typeface="Arial"/>
              </a:rPr>
              <a:t>49 pairs / 26 patients · not Tian external validation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04B975-9AF9-4BF3-814D-CC1DDC5E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390650"/>
            <a:ext cx="30480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C8782C"/>
          </a:solidFill>
          <a:ln xmlns:a="http://schemas.openxmlformats.org/drawingml/2006/main" w="9525">
            <a:solidFill>
              <a:srgbClr val="C8782C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9502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CDD36E-F65B-4F40-B26E-F01052A6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6207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7725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Conventional boundary predictor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CCB79C-1D92-4337-AB90-C166E89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09750"/>
            <a:ext cx="113347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782C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782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782C"/>
                </a:solidFill>
                <a:latin typeface="Arial"/>
                <a:ea typeface="Arial"/>
                <a:cs typeface="Arial"/>
              </a:rPr>
              <a:t>predictive 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0174D4-4AED-4210-A7D6-1103D82A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907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128 × 256 B-scan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487F8A-6D21-4983-ACDE-BD930BD7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838200" cy="752475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8782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3-stage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A47E70-FF43-4479-BB48-61F38BF5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0507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782C"/>
          </a:solidFill>
          <a:ln xmlns:a="http://schemas.openxmlformats.org/drawingml/2006/main" w="6668">
            <a:solidFill>
              <a:srgbClr val="C8782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52E8A7-876A-43BF-9BA3-B5306E66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838200" cy="752475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8782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heatmap</a:t>
            </a:r>
          </a:p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339F4E-9404-42D9-9E87-360E1E46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05075"/>
            <a:ext cx="266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782C"/>
          </a:solidFill>
          <a:ln xmlns:a="http://schemas.openxmlformats.org/drawingml/2006/main" w="6668">
            <a:solidFill>
              <a:srgbClr val="C8782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10D5CC-6476-4774-BFA7-6A90A95C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66950"/>
            <a:ext cx="619125" cy="75247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8782C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vertical</a:t>
            </a:r>
          </a:p>
          <a:p xmlns:a="http://schemas.openxmlformats.org/drawingml/2006/main">
            <a:pPr algn="ctr">
              <a:defRPr sz="10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soft-argmax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D01FE6-78AE-4082-95B4-E0D51B08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2981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3C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3C5B"/>
                </a:solidFill>
                <a:latin typeface="Arial"/>
                <a:ea typeface="Arial"/>
                <a:cs typeface="Arial"/>
              </a:rPr>
              <a:t>8 continuous retinal boundaries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9E3EB4-0C82-44D6-93E7-9B98616A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10200" y="360997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3307EB-F80E-48F0-884B-52FC320E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3600" y="3609975"/>
            <a:ext cx="5334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CC5845-B812-4912-BA1E-B0944061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77000" y="362902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19DE16-0B7E-43A4-BC68-A60062E9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0400" y="3629025"/>
            <a:ext cx="5334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038714-E76F-4684-AF6B-1BCC6658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3800" y="3638550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2DBFF5-0035-4D22-B6A9-2B8983E3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10200" y="374332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AF6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D20333-92F2-47C7-BD66-49F1FB93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3600" y="3743325"/>
            <a:ext cx="5334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AF6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249FA4-0BE2-4622-84DC-59EC4279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77000" y="376237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AF6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F0F45B-F1BB-4637-9836-B513BA43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0400" y="3762375"/>
            <a:ext cx="5334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AF6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9A5BAC-6EB1-47FE-BD25-DBBB72DF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3800" y="3771900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AF6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3E8650-EE09-4DAC-9092-1E6EA419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10200" y="387667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C63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77B883-A858-44C1-9CB8-56845C64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3600" y="3876675"/>
            <a:ext cx="5334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C63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74155F-024F-44D5-A38D-E2431B9E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77000" y="389572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C63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9EEB17-2566-4473-8E7F-5CE2776D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0400" y="3895725"/>
            <a:ext cx="5334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C63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8941CA-A23C-48F6-A48E-4019938B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3800" y="3905250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C63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F9CB8B-3CA0-44C1-83D1-C49D635C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10200" y="401002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9A2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A43B26-0C82-4E73-9690-938E3822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3600" y="4010025"/>
            <a:ext cx="5334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9A2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8DF64F-C248-4AA1-A40B-32DD38A5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77000" y="402907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9A2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ED69A0-47DE-4561-9EA4-C0DC144B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0400" y="4029075"/>
            <a:ext cx="5334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9A2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8875C0-8A97-46CC-BF17-F1B18DF2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3800" y="4038600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9A2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A458B9-8C2C-4E7B-9663-4C5E2F68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10200" y="414337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4C4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5D844B-9314-4C81-99DE-2CE5704D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3600" y="4143375"/>
            <a:ext cx="5334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4C4B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35FC06C-F72E-4CEE-A904-D9668DD9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77000" y="416242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4C4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823D44-566E-4DB5-B1FD-7642F178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0400" y="4162425"/>
            <a:ext cx="5334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4C4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12A5F6-A190-4771-83C4-6104A027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3800" y="4171950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4C4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9A384E9-F88C-4212-B11C-1942554F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10200" y="427672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3F8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945F718-9035-4A14-9D22-BA5CCF67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3600" y="4276725"/>
            <a:ext cx="5334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3F8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22A1F4-CF34-48C2-9537-C7FD7D02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77000" y="429577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3F8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0D1411-9B9D-47C7-AA1D-87A80C3D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0400" y="4295775"/>
            <a:ext cx="5334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3F8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9C91AE-7FF6-40E6-AB52-461718B3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3800" y="4305300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13F8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BB1E75D-8FB2-445F-A735-DB7175D4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10200" y="441007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67C4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70DF76D-834F-4189-BE75-5ACDC5C6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3600" y="4410075"/>
            <a:ext cx="5334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67C4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69B9346-CC9F-435C-B065-6EAEF757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77000" y="442912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67C4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73657BD-A033-4AE0-8539-6AACC7A9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0400" y="4429125"/>
            <a:ext cx="5334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67C4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678D62-ED30-4BDD-9E56-E878A93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3800" y="4438650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D67C4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3C0BB0F-2AC4-4B4C-84F4-1C440B1C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10200" y="454342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78C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BD3D267-E922-4200-9E76-1EFF49A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43600" y="4543425"/>
            <a:ext cx="53340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78C4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3646624-2540-4C9A-8FEA-96608E0C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77000" y="4562475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78C4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DF15492-205A-4DC9-A87F-CD071E71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0400" y="4562475"/>
            <a:ext cx="53340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78C4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D2CDFBA-7A3A-4942-82C1-2D581B57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543800" y="4572000"/>
            <a:ext cx="533400" cy="28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78C4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64655AC-7564-4414-9761-949ED99B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33950"/>
            <a:ext cx="258127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782C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Lseg = SmoothL1 + 0.25 Lorder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01D2486-58E5-4230-80C9-786C7EA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43525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Prediction branch is identical in SliceCNN and RetiESS-Seg.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85D9A3F-E29B-4249-84A4-230D8EA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962650"/>
            <a:ext cx="238125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C8782C"/>
          </a:solidFill>
          <a:ln xmlns:a="http://schemas.openxmlformats.org/drawingml/2006/main" w="9525">
            <a:solidFill>
              <a:srgbClr val="C8782C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ESS feature enters inference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633CCDF-829B-42C0-8EBE-6264E42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90650"/>
            <a:ext cx="30480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168578"/>
          </a:solidFill>
          <a:ln xmlns:a="http://schemas.openxmlformats.org/drawingml/2006/main" w="9525">
            <a:solidFill>
              <a:srgbClr val="16857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9502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A39904D-C0D7-4630-A3DC-9B81621C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62075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78352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Correlation-aware ESS audit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81FAB4E-24C4-4F22-9D80-7ED0BAE7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02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5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578"/>
                </a:solidFill>
                <a:latin typeface="Arial"/>
                <a:ea typeface="Arial"/>
                <a:cs typeface="Arial"/>
              </a:rPr>
              <a:t>label-free appearance zi + slice position ti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DA69543-D664-46EF-8ED0-581A95B0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47900"/>
            <a:ext cx="80010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68578"/>
            </a:solidFill>
            <a:prstDash val="solid"/>
          </a:ln>
        </p:spPr>
      </p:sp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a89079769420f"/>
          <a:srcRect xmlns:a="http://schemas.openxmlformats.org/drawingml/2006/main" l="1952" t="0" r="19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2550" y="2276475"/>
            <a:ext cx="742950" cy="628650"/>
          </a:xfrm>
          <a:prstGeom xmlns:a="http://schemas.openxmlformats.org/drawingml/2006/main" prst="rect">
            <a:avLst/>
          </a:prstGeom>
        </p:spPr>
      </p:pic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2E1ED99-0811-46DB-8D29-6AD97481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314575"/>
            <a:ext cx="80010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68578"/>
            </a:solidFill>
            <a:prstDash val="solid"/>
          </a:ln>
        </p:spPr>
      </p:sp>
      <p:pic>
        <p:nvPicPr>
          <p:cNvPr id="2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99ca822704048"/>
          <a:srcRect xmlns:a="http://schemas.openxmlformats.org/drawingml/2006/main" l="1952" t="0" r="19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53600" y="2343150"/>
            <a:ext cx="742950" cy="628650"/>
          </a:xfrm>
          <a:prstGeom xmlns:a="http://schemas.openxmlformats.org/drawingml/2006/main" prst="rect">
            <a:avLst/>
          </a:prstGeom>
        </p:spPr>
      </p:pic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8438D9B-E51F-4596-A410-60521301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381250"/>
            <a:ext cx="80010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68578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76c29dd2146ae"/>
          <a:srcRect xmlns:a="http://schemas.openxmlformats.org/drawingml/2006/main" l="1952" t="0" r="19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34650" y="2409825"/>
            <a:ext cx="742950" cy="628650"/>
          </a:xfrm>
          <a:prstGeom xmlns:a="http://schemas.openxmlformats.org/drawingml/2006/main" prst="rect">
            <a:avLst/>
          </a:prstGeom>
        </p:spPr>
      </p:pic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5AE0E6B-65DA-4029-9849-82CC434A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095625"/>
            <a:ext cx="333375" cy="2571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8578"/>
          </a:solidFill>
          <a:ln xmlns:a="http://schemas.openxmlformats.org/drawingml/2006/main" w="6668">
            <a:solidFill>
              <a:srgbClr val="16857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D50E51-57CD-46A5-9C30-640A1A50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5337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3C7446A-9138-4D24-8CAF-0822ACCE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337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AA3E34F-1BF1-479F-B033-C36CF20A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5337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C9B8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7FA650-CB0E-4FB5-A766-CA54C86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5337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3DA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DF061B2-662D-4A33-90F0-021407A0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5337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AA86A18-AADF-4F4B-9855-00BB6B9F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10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DF6E00-8190-4642-80B1-C4EE9FD0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10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7E2F188-2780-4147-965A-056E1796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810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A80F2EA-9A14-4738-AD0F-716A4F69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10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C9B8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BFEC8BB-092F-4916-AFEB-02D697B9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810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3DA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E141A06-5D2B-4C75-9635-ADE4F644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0862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C9B8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CE9545A-9C50-4E52-B41C-609F7BFB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862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BB189B7-7DAF-4892-8563-0C7E4E18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862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8C78666-B68A-4AF1-8A9D-7010D4E0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0862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A7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97BC50E-3D60-40FB-85E1-374C40F2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08622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C9B8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FA0CBA9-FEE3-4947-98A7-C01EF737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3624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3DA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57EE0ED-F6EE-4EEA-867D-31944F8E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C9B8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0BD23D4-ACC9-42BD-8DCA-C0A14B1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3624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A7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DB2E0F0-9F7E-4581-8FA5-46D63325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624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4B653D1-5C4D-4A6D-8FED-146D78E8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36245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CF9B794-B07A-40D9-99D4-92AEB6D5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386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8AFB5EA-08AC-4852-90D9-80B83125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386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E3DA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50CE453-FC0F-42D8-B834-EE37F1BC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6386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C9B8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DA7BB23-483C-44C4-95F3-AF7476C9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386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71DE62C-E6DD-4776-9095-2C32FCE7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638675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70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F0C16D1-EFB2-45D4-A38A-06BD3FE2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91100"/>
            <a:ext cx="240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 = 0.5 Kpos + 0.5 Kapp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2C107A3-71CA-4305-9A31-640DD176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91150"/>
            <a:ext cx="190500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57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8502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85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578"/>
                </a:solidFill>
                <a:latin typeface="Arial"/>
                <a:ea typeface="Arial"/>
                <a:cs typeface="Arial"/>
              </a:rPr>
              <a:t>nₑff = (wᵀRw)⁻¹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6500760-2F8B-4A0B-AEA4-9DB498AD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10250"/>
            <a:ext cx="2362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training: (nₑff / m) scales LΔ</a:t>
            </a:r>
          </a:p>
          <a:p xmlns:a="http://schemas.openxmlformats.org/drawingml/2006/main">
            <a:pPr algn="ctr">
              <a:defRPr sz="1200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audit: report redundancy-risk signal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FE1E80E-ECBA-4BB4-99AF-ADC3DC88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429375"/>
            <a:ext cx="25622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168578"/>
          </a:solidFill>
          <a:ln xmlns:a="http://schemas.openxmlformats.org/drawingml/2006/main" w="9525">
            <a:solidFill>
              <a:srgbClr val="16857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separate from inference · no accuracy claim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5DA7E85-2D76-4BEC-989B-24013F69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390650"/>
            <a:ext cx="30480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A94867"/>
          </a:solidFill>
          <a:ln xmlns:a="http://schemas.openxmlformats.org/drawingml/2006/main" w="9525">
            <a:solidFill>
              <a:srgbClr val="A94867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95024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C8CD5EF-581D-4AE2-A671-B7AF13D4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13620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9062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Leakage-safe evaluation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49A8B54-4B08-49D0-946B-B9F74474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1981200"/>
            <a:ext cx="1000125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94867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9 complete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volumes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523749F-EBE9-49CB-AEF6-FCCB6BDB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175" y="2171700"/>
            <a:ext cx="3333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4867"/>
          </a:solidFill>
          <a:ln xmlns:a="http://schemas.openxmlformats.org/drawingml/2006/main" w="6668">
            <a:solidFill>
              <a:srgbClr val="A9486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2FD89EA-D75A-4148-B7DA-5EE60536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1981200"/>
            <a:ext cx="1000125" cy="638175"/>
          </a:xfrm>
          <a:prstGeom xmlns:a="http://schemas.openxmlformats.org/drawingml/2006/main" prst="roundRect">
            <a:avLst>
              <a:gd name="adj" fmla="val 134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94867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1 held-out</a:t>
            </a:r>
          </a:p>
          <a:p xmlns:a="http://schemas.openxmlformats.org/drawingml/2006/main">
            <a:pPr algn="ctr">
              <a:defRPr sz="12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8EED5A1-AC57-41C6-8C19-2AF185F2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273367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486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4867"/>
                </a:solidFill>
                <a:latin typeface="Arial"/>
                <a:ea typeface="Arial"/>
                <a:cs typeface="Arial"/>
              </a:rPr>
              <a:t>outer leave-one-volume-out × 10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8B9127D-DDE5-4DC3-BA2D-0E5699D8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143250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4867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B0942A0-59E2-43B2-AA12-20A33CA1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314700"/>
            <a:ext cx="194310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4867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48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4867"/>
                </a:solidFill>
                <a:latin typeface="Arial"/>
                <a:ea typeface="Arial"/>
                <a:cs typeface="Arial"/>
              </a:rPr>
              <a:t>nested model selection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7D67772-A111-43F3-B056-72998C84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7147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60 inner epochs</a:t>
            </a:r>
          </a:p>
          <a:p xmlns:a="http://schemas.openxmlformats.org/drawingml/2006/main">
            <a:pPr algn="ctr">
              <a:defRPr sz="1200" b="1">
                <a:solidFill>
                  <a:srgbClr val="6471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17D"/>
                </a:solidFill>
                <a:latin typeface="Arial"/>
                <a:ea typeface="Arial"/>
                <a:cs typeface="Arial"/>
              </a:rPr>
              <a:t>→ selected refit: 120 epochs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D1191AA-171D-4FE9-9B57-1E8CA9D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4391025"/>
            <a:ext cx="217170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4867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48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4867"/>
                </a:solidFill>
                <a:latin typeface="Arial"/>
                <a:ea typeface="Arial"/>
                <a:cs typeface="Arial"/>
              </a:rPr>
              <a:t>paired fixed 60-epoch test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0D07860-0AB8-4DDF-9314-F226B4BE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8006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48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4867"/>
                </a:solidFill>
                <a:latin typeface="Arial"/>
                <a:ea typeface="Arial"/>
                <a:cs typeface="Arial"/>
              </a:rPr>
              <a:t>ΔMAE = −0.019 px</a:t>
            </a:r>
          </a:p>
          <a:p xmlns:a="http://schemas.openxmlformats.org/drawingml/2006/main">
            <a:pPr algn="ctr">
              <a:defRPr sz="1350" b="1">
                <a:solidFill>
                  <a:srgbClr val="A9486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4867"/>
                </a:solidFill>
                <a:latin typeface="Arial"/>
                <a:ea typeface="Arial"/>
                <a:cs typeface="Arial"/>
              </a:rPr>
              <a:t>95% CI crosses 0 · p = 0.375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8332735-2F71-484B-907B-6049A3E3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534025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4867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B397207-C76B-4F7A-9F9E-34680F9D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6578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Mechanistic redundancy result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BFBD495-CD2B-49E1-8438-10468FE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5981700"/>
            <a:ext cx="2447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5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578"/>
                </a:solidFill>
                <a:latin typeface="Arial"/>
                <a:ea typeface="Arial"/>
                <a:cs typeface="Arial"/>
              </a:rPr>
              <a:t>raw slices: 5 → 10 → 20</a:t>
            </a:r>
          </a:p>
          <a:p xmlns:a="http://schemas.openxmlformats.org/drawingml/2006/main">
            <a:pPr algn="ctr">
              <a:defRPr sz="1200" b="1">
                <a:solidFill>
                  <a:srgbClr val="1685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578"/>
                </a:solidFill>
                <a:latin typeface="Arial"/>
                <a:ea typeface="Arial"/>
                <a:cs typeface="Arial"/>
              </a:rPr>
              <a:t>ESS: 1.562 → 1.536 → 1.519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ED66FB1-BEDB-46CB-82CA-CD809C2E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496050"/>
            <a:ext cx="2438400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A94867"/>
          </a:solidFill>
          <a:ln xmlns:a="http://schemas.openxmlformats.org/drawingml/2006/main" w="9525">
            <a:solidFill>
              <a:srgbClr val="A94867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 gate: no proven accuracy gain</a:t>
            </a:r>
          </a:p>
        </p:txBody>
      </p:sp>
      <p:sp>
        <p:nvSpPr>
          <p:cNvPr id="145" name="take-home">
            <a:extLst xmlns:a="http://schemas.openxmlformats.org/drawingml/2006/main">
              <a:ext uri="{FF2B5EF4-FFF2-40B4-BE49-F238E27FC236}">
                <a16:creationId xmlns:a16="http://schemas.microsoft.com/office/drawing/2014/main" id="{BD91B889-6764-4E66-8BDE-F51A9FB5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086600"/>
            <a:ext cx="14516100" cy="885825"/>
          </a:xfrm>
          <a:prstGeom xmlns:a="http://schemas.openxmlformats.org/drawingml/2006/main" prst="roundRect">
            <a:avLst>
              <a:gd name="adj" fmla="val 1720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13335">
            <a:solidFill>
              <a:srgbClr val="C9D3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DA36501-0EF5-4A9F-9E81-8E99FB96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7258050"/>
            <a:ext cx="1266825" cy="257175"/>
          </a:xfrm>
          <a:prstGeom xmlns:a="http://schemas.openxmlformats.org/drawingml/2006/main" prst="roundRect">
            <a:avLst>
              <a:gd name="adj" fmla="val 48148"/>
            </a:avLst>
          </a:prstGeom>
          <a:solidFill xmlns:a="http://schemas.openxmlformats.org/drawingml/2006/main">
            <a:srgbClr val="103C5B"/>
          </a:solidFill>
          <a:ln xmlns:a="http://schemas.openxmlformats.org/drawingml/2006/main" w="9525">
            <a:solidFill>
              <a:srgbClr val="103C5B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TAKE-HOME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573E3B5-8A31-4812-AA6C-B8019FDF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219950"/>
            <a:ext cx="12592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3C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3C5B"/>
                </a:solidFill>
                <a:latin typeface="Arial"/>
                <a:ea typeface="Arial"/>
                <a:cs typeface="Arial"/>
              </a:rPr>
              <a:t>Duplicated B-scans inflate the raw sample count, not independent evidence. RetiESS reports this redundancy risk; it does not replace the predictor or justify an unobserved diagnostic gain.</a:t>
            </a:r>
          </a:p>
        </p:txBody>
      </p:sp>
    </p:spTree>
    <p:extLst>
      <p:ext uri="{BB962C8B-B14F-4D97-AF65-F5344CB8AC3E}">
        <p14:creationId xmlns:p14="http://schemas.microsoft.com/office/powerpoint/2010/main" val="2799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2026-08-31T12:11:43.4390000Z</dcterms:created>
  <dcterms:modified xsi:type="dcterms:W3CDTF">2026-08-31T12:11:43.4390000Z</dcterms:modified>
</coreProperties>
</file>